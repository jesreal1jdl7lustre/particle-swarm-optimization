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Today, I am presenting our Graph Theory Performance Innovative Task: solving a real-life Traveling Salesperson Problem in Cagayan de Oro City using our assigned algorithm, Discrete Particle Swarm Optimization.</a:t>
            </a:r>
          </a:p>
          <a:p>
            <a:r>
              <a:t>Our scenario involves planning an efficient driving tour for a group of tourists visiting Cagayan de Oro. They hire a single vehicle, start at Plaza Divisoria, visit seven other prominent tourist destinations, and return to Plaza Divisoria.</a:t>
            </a:r>
          </a:p>
          <a:p>
            <a:r>
              <a:t>The mathematical challenge is to determine the optimal visiting order that minimizes the total driving distance while visiting each required location exactly once.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destinations are selected from the LakbayPinas Cagayan de Oro travel guide. We chose eight key spots located strictly within Cagayan de Oro City:</a:t>
            </a:r>
          </a:p>
          <a:p>
            <a:r>
              <a:t>- V0: Plaza Divisoria (our start and finish depot)</a:t>
            </a:r>
          </a:p>
          <a:p>
            <a:r>
              <a:t>- V1: Gaston Park</a:t>
            </a:r>
          </a:p>
          <a:p>
            <a:r>
              <a:t>- V2: St. Augustine Metropolitan Cathedral</a:t>
            </a:r>
          </a:p>
          <a:p>
            <a:r>
              <a:t>- V3: Museo de Oro</a:t>
            </a:r>
          </a:p>
          <a:p>
            <a:r>
              <a:t>- V4: Vicente de Lara Park</a:t>
            </a:r>
          </a:p>
          <a:p>
            <a:r>
              <a:t>- V5: High Ridge in Macasandig</a:t>
            </a:r>
          </a:p>
          <a:p>
            <a:r>
              <a:t>- V6: Amaya View in Indahag</a:t>
            </a:r>
          </a:p>
          <a:p>
            <a:r>
              <a:t>- V7: Gardens of Malasag Eco-Tourism Village in Cugman</a:t>
            </a:r>
          </a:p>
          <a:p>
            <a:r>
              <a:t>Each location was verified on Google Maps. Because places like Museo de Oro and the Cathedral sit inside pedestrian campuses or plazas, we designated street-level vehicular drop-off nodes on Corrales Avenue and Gaston Circle to reflect realistic driving access.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 is to minimize total driving distance in kilometres:</a:t>
            </a:r>
          </a:p>
          <a:p>
            <a:r>
              <a:t>Z(pi) = D[pi[0], pi[1]] + D[pi[1], pi[2]] + ... + D[pi[7], pi[0]]</a:t>
            </a:r>
          </a:p>
          <a:p>
            <a:r>
              <a:t>Key assumptions:</a:t>
            </a:r>
          </a:p>
          <a:p>
            <a:r>
              <a:t>1. Closed tour: Start and finish at V0, visiting V1 through V7 exactly once.</a:t>
            </a:r>
          </a:p>
          <a:p>
            <a:r>
              <a:t>2. The vehicle travels on real road networks. Because of one-way roads and traffic flow, travel between two stops is directed: distance from A to B does not necessarily equal B to A.</a:t>
            </a:r>
          </a:p>
          <a:p>
            <a:r>
              <a:t>3. We optimize distance; entrance fees, sightseeing durations, and live congestion are outside the distance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assigned algorithm is Particle Swarm Optimization (PSO). In continuous PSO, particles move through space via position and velocity vectors. But TSP is a discrete permutation problem:</a:t>
            </a:r>
          </a:p>
          <a:p>
            <a:r>
              <a:t>- A particle represents a candidate visiting order, with depot V0 fixed at position 0.</a:t>
            </a:r>
          </a:p>
          <a:p>
            <a:r>
              <a:t>- Fitness is the total closed-tour distance Z.</a:t>
            </a:r>
          </a:p>
          <a:p>
            <a:r>
              <a:t>- Velocity is represented as a sequence of transpositions or swaps acting on non-depot cities.</a:t>
            </a:r>
          </a:p>
          <a:p>
            <a:r>
              <a:t>- Each particle remembers its personal best order (pbest), and the swarm shares the best order discovered so far (gbest).</a:t>
            </a:r>
          </a:p>
          <a:p>
            <a:r>
              <a:t>In our implementation, we use 40 particles and 120 iterations. Previous swaps are retained with inertia probability w = 0.5. Cognitive alignment toward pbest occurs with probability c1 = 0.8, social alignment toward gbest with probability c2 = 0.8, and an exploratory random swap occurs with probability 0.2.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step-by-step calculation:</a:t>
            </a:r>
          </a:p>
          <a:p>
            <a:r>
              <a:t>Suppose a particle currently has the route: X = [V0, V3, V1, V2, V4, V5, V6, V7]. Summing the 8 legs from our distance matrix gives a total cost of 38.50 km.</a:t>
            </a:r>
          </a:p>
          <a:p>
            <a:r>
              <a:t>Now, suppose the global best target gbest is [V0, V3, V4, V7, V6, V5, V2, V1].</a:t>
            </a:r>
          </a:p>
          <a:p>
            <a:r>
              <a:t>During social alignment, the algorithm scans from left to right:</a:t>
            </a:r>
          </a:p>
          <a:p>
            <a:r>
              <a:t>- Index 1 matches: both have V3.</a:t>
            </a:r>
          </a:p>
          <a:p>
            <a:r>
              <a:t>- At index 2, X[2] = V1, but the target requires V4.</a:t>
            </a:r>
          </a:p>
          <a:p>
            <a:r>
              <a:t>- In our particle X, V4 is located at index 4.</a:t>
            </a:r>
          </a:p>
          <a:p>
            <a:r>
              <a:t>- With probability c2 = 0.8, the algorithm executes swap (2, 4).</a:t>
            </a:r>
          </a:p>
          <a:p>
            <a:r>
              <a:t>- The new route becomes: [V0, V3, V4, V2, V1, V5, V6, V7].</a:t>
            </a:r>
          </a:p>
          <a:p>
            <a:r>
              <a:t>Recalculating the altered legs: V3 -&gt; V4, V4 -&gt; V2, V2 -&gt; V1, and V1 -&gt; V5, the new tour cost drops to 38.29 km. Because this cost is lower, the particle immediately updates its personal best!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on Slide 6 is our complete Graph Model and Distance Matrix.</a:t>
            </a:r>
          </a:p>
          <a:p>
            <a:r>
              <a:t>On the left, we represent the problem as a complete directed weighted graph G = (V, A, D) with 8 vertices and 56 directed arcs. The bold teal arrows show the closed Hamiltonian cycle discovered by PSO, complete with leg distances.</a:t>
            </a:r>
          </a:p>
          <a:p>
            <a:r>
              <a:t>On the right is our 8-by-8 asymmetric weight matrix. Notice that travel costs are asymmetric. For example:</a:t>
            </a:r>
          </a:p>
          <a:p>
            <a:r>
              <a:t>- Driving from Plaza Divisoria (V0) to Gaston Park (V1) is 0.63 km.</a:t>
            </a:r>
          </a:p>
          <a:p>
            <a:r>
              <a:t>- But returning from Gaston Park (V1) to Plaza Divisoria (V0) is only 0.36 km.</a:t>
            </a:r>
          </a:p>
          <a:p>
            <a:r>
              <a:t>This asymmetry is caused by real-world one-way streets around downtown CDO. Symmetrizing the matrix would produce unrealistic routes, so we preserve the full directed structure.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road distances and geometries were generated using the Open Source Routing Machine (OSRM) driving API, referencing verified OpenStreetMap data.</a:t>
            </a:r>
          </a:p>
          <a:p>
            <a:r>
              <a:t>Every raw API response is preserved locally in data/raw/ with SHA-256 checksums in a manifest. Our entire dataset can be rebuilt and validated offline without internet access, ensuring full scientific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execute our Python implementation live.</a:t>
            </a:r>
          </a:p>
          <a:p>
            <a:r>
              <a:t>As you can see on screen, the solver loads the CSV dataset, validates the matrix, and executes our discrete PSO algorithm with seed 123.</a:t>
            </a:r>
          </a:p>
          <a:p>
            <a:r>
              <a:t>Let us examine the results:</a:t>
            </a:r>
          </a:p>
          <a:p>
            <a:r>
              <a:t>- PSO Tour Order: V0 -&gt; V3 -&gt; V4 -&gt; V7 -&gt; V6 -&gt; V5 -&gt; V2 -&gt; V1 -&gt; V0.</a:t>
            </a:r>
          </a:p>
          <a:p>
            <a:r>
              <a:t>- Total PSO Distance: 36.4739 kilometres.</a:t>
            </a:r>
          </a:p>
          <a:p>
            <a:r>
              <a:t>- Exact Matrix Optimum: Evaluated all 5,040 permutations by brute force. The absolute matrix minimum is 35.9537 kilometres.</a:t>
            </a:r>
          </a:p>
          <a:p>
            <a:r>
              <a:t>- Optimality Assessment: The optimality gap is 1.45% (520.2 metres). Therefore, we honestly report that our seed-123 PSO solution is an approximate solution, not the exact mathematical optimum.</a:t>
            </a:r>
          </a:p>
          <a:p>
            <a:r>
              <a:t>- Across 30 repeated random seeds, PSO matched the exact optimum 4 times, with a mean distance of 36.63 km.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9, we project the optimal tour onto actual CDO road geometry.</a:t>
            </a:r>
          </a:p>
          <a:p>
            <a:r>
              <a:t>Notice how the tour smartly clusters stops:</a:t>
            </a:r>
          </a:p>
          <a:p>
            <a:r>
              <a:t>It leaves downtown Plaza Divisoria (V0), visits Museo de Oro (V3) and Capitol Park (V4), sweeps eastward to Gardens of Malasag (V7), circles to the Indahag hilltop at Amaya View (V6) and High Ridge (V5), and descends back to Gaston Park (V1) and the Cathedral (V2) before returning to Divisoria.</a:t>
            </a:r>
          </a:p>
          <a:p>
            <a:r>
              <a:t>The downtown inset separates the closely spaced heritage sites.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a:t>
            </a:r>
          </a:p>
          <a:p>
            <a:r>
              <a:t>- We successfully formulated an asymmetric 8-stop tourist TSP for Cagayan de Oro City.</a:t>
            </a:r>
          </a:p>
          <a:p>
            <a:r>
              <a:t>- Our discrete swap PSO algorithm rapidly discovered an approximate tour of 36.4739 km within 120 iterations, just 1.45% above the exact global optimum.</a:t>
            </a:r>
          </a:p>
          <a:p>
            <a:r>
              <a:t>- Limitations: The model assumes static driving routes without real-time congestion and does not account for attraction opening hours or parking search times.</a:t>
            </a:r>
          </a:p>
          <a:p>
            <a:r>
              <a:t>References: LakbayPinas for destination ideas, OpenStreetMap and OSRM for geographic data, and Luna-Garcia et al. (2024) for the discrete PSO adaptation.</a:t>
            </a:r>
          </a:p>
          <a:p>
            <a:r>
              <a:t>Thank you very much!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371600"/>
            <a:ext cx="4114800" cy="411480"/>
          </a:xfrm>
          <a:prstGeom prst="roundRect">
            <a:avLst/>
          </a:prstGeom>
          <a:solidFill>
            <a:srgbClr val="1C2541"/>
          </a:solidFill>
          <a:ln>
            <a:solidFill>
              <a:srgbClr val="5BC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6FFFE9"/>
                </a:solidFill>
              </a:defRPr>
            </a:pPr>
            <a:r>
              <a:t>GRAPH THEORY PIT • PERFORMANCE INNOVATIVE TASK</a:t>
            </a:r>
          </a:p>
        </p:txBody>
      </p:sp>
      <p:sp>
        <p:nvSpPr>
          <p:cNvPr id="4" name="TextBox 3"/>
          <p:cNvSpPr txBox="1"/>
          <p:nvPr/>
        </p:nvSpPr>
        <p:spPr>
          <a:xfrm>
            <a:off x="731520" y="2011680"/>
            <a:ext cx="10698480" cy="1828800"/>
          </a:xfrm>
          <a:prstGeom prst="rect">
            <a:avLst/>
          </a:prstGeom>
          <a:noFill/>
        </p:spPr>
        <p:txBody>
          <a:bodyPr wrap="square">
            <a:spAutoFit/>
          </a:bodyPr>
          <a:lstStyle/>
          <a:p>
            <a:pPr>
              <a:defRPr sz="3600" b="1">
                <a:solidFill>
                  <a:srgbClr val="F8F9FA"/>
                </a:solidFill>
              </a:defRPr>
            </a:pPr>
            <a:r>
              <a:t>Cagayan de Oro Tourist Driving Tour</a:t>
            </a:r>
          </a:p>
          <a:p>
            <a:pPr>
              <a:defRPr sz="2000">
                <a:solidFill>
                  <a:srgbClr val="5BC0BE"/>
                </a:solidFill>
              </a:defRPr>
            </a:pPr>
            <a:r>
              <a:t>Solving Real-Life Asymmetric TSP via Particle Swarm Optimization (Section 2.4)</a:t>
            </a:r>
          </a:p>
        </p:txBody>
      </p:sp>
      <p:sp>
        <p:nvSpPr>
          <p:cNvPr id="5" name="Rounded Rectangle 4"/>
          <p:cNvSpPr/>
          <p:nvPr/>
        </p:nvSpPr>
        <p:spPr>
          <a:xfrm>
            <a:off x="731520" y="4114800"/>
            <a:ext cx="3291840" cy="201168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251960"/>
            <a:ext cx="2926080" cy="457200"/>
          </a:xfrm>
          <a:prstGeom prst="rect">
            <a:avLst/>
          </a:prstGeom>
          <a:noFill/>
        </p:spPr>
        <p:txBody>
          <a:bodyPr wrap="none">
            <a:spAutoFit/>
          </a:bodyPr>
          <a:lstStyle/>
          <a:p>
            <a:pPr>
              <a:defRPr sz="1400" b="1">
                <a:solidFill>
                  <a:srgbClr val="6FFFE9"/>
                </a:solidFill>
              </a:defRPr>
            </a:pPr>
            <a:r>
              <a:t>Assigned Algorithm</a:t>
            </a:r>
          </a:p>
        </p:txBody>
      </p:sp>
      <p:sp>
        <p:nvSpPr>
          <p:cNvPr id="7" name="TextBox 6"/>
          <p:cNvSpPr txBox="1"/>
          <p:nvPr/>
        </p:nvSpPr>
        <p:spPr>
          <a:xfrm>
            <a:off x="914400" y="4663440"/>
            <a:ext cx="2926080" cy="1280160"/>
          </a:xfrm>
          <a:prstGeom prst="rect">
            <a:avLst/>
          </a:prstGeom>
          <a:noFill/>
        </p:spPr>
        <p:txBody>
          <a:bodyPr wrap="none">
            <a:spAutoFit/>
          </a:bodyPr>
          <a:lstStyle/>
          <a:p>
            <a:pPr>
              <a:defRPr sz="1200">
                <a:solidFill>
                  <a:srgbClr val="9CA3AF"/>
                </a:solidFill>
              </a:defRPr>
            </a:pPr>
            <a:r>
              <a:t>Algorithm 2.4: Discrete PSO</a:t>
            </a:r>
            <a:br/>
            <a:r>
              <a:t>(Luna-Garcia et al., TMJM 2024)</a:t>
            </a:r>
            <a:br/>
            <a:r>
              <a:t>Position: Permutation of vertices</a:t>
            </a:r>
            <a:br/>
            <a:r>
              <a:t>Velocity: Sequences of transposition swaps</a:t>
            </a:r>
          </a:p>
        </p:txBody>
      </p:sp>
      <p:sp>
        <p:nvSpPr>
          <p:cNvPr id="8" name="Rounded Rectangle 7"/>
          <p:cNvSpPr/>
          <p:nvPr/>
        </p:nvSpPr>
        <p:spPr>
          <a:xfrm>
            <a:off x="4389120" y="4114800"/>
            <a:ext cx="3291840" cy="201168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4251960"/>
            <a:ext cx="2926080" cy="457200"/>
          </a:xfrm>
          <a:prstGeom prst="rect">
            <a:avLst/>
          </a:prstGeom>
          <a:noFill/>
        </p:spPr>
        <p:txBody>
          <a:bodyPr wrap="none">
            <a:spAutoFit/>
          </a:bodyPr>
          <a:lstStyle/>
          <a:p>
            <a:pPr>
              <a:defRPr sz="1400" b="1">
                <a:solidFill>
                  <a:srgbClr val="6FFFE9"/>
                </a:solidFill>
              </a:defRPr>
            </a:pPr>
            <a:r>
              <a:t>Problem Scope</a:t>
            </a:r>
          </a:p>
        </p:txBody>
      </p:sp>
      <p:sp>
        <p:nvSpPr>
          <p:cNvPr id="10" name="TextBox 9"/>
          <p:cNvSpPr txBox="1"/>
          <p:nvPr/>
        </p:nvSpPr>
        <p:spPr>
          <a:xfrm>
            <a:off x="4572000" y="4663440"/>
            <a:ext cx="2926080" cy="1280160"/>
          </a:xfrm>
          <a:prstGeom prst="rect">
            <a:avLst/>
          </a:prstGeom>
          <a:noFill/>
        </p:spPr>
        <p:txBody>
          <a:bodyPr wrap="none">
            <a:spAutoFit/>
          </a:bodyPr>
          <a:lstStyle/>
          <a:p>
            <a:pPr>
              <a:defRPr sz="1200">
                <a:solidFill>
                  <a:srgbClr val="9CA3AF"/>
                </a:solidFill>
              </a:defRPr>
            </a:pPr>
            <a:r>
              <a:t>8 CDO Tourist Attractions</a:t>
            </a:r>
            <a:br/>
            <a:r>
              <a:t>Depot: Plaza Divisoria (V0)</a:t>
            </a:r>
            <a:br/>
            <a:r>
              <a:t>56 Directed Road Network Arcs</a:t>
            </a:r>
            <a:br/>
            <a:r>
              <a:t>Search Space: 7! = 5,040 routes</a:t>
            </a:r>
          </a:p>
        </p:txBody>
      </p:sp>
      <p:sp>
        <p:nvSpPr>
          <p:cNvPr id="11" name="Rounded Rectangle 10"/>
          <p:cNvSpPr/>
          <p:nvPr/>
        </p:nvSpPr>
        <p:spPr>
          <a:xfrm>
            <a:off x="8046720" y="4114800"/>
            <a:ext cx="3383280" cy="201168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251960"/>
            <a:ext cx="3017520" cy="457200"/>
          </a:xfrm>
          <a:prstGeom prst="rect">
            <a:avLst/>
          </a:prstGeom>
          <a:noFill/>
        </p:spPr>
        <p:txBody>
          <a:bodyPr wrap="none">
            <a:spAutoFit/>
          </a:bodyPr>
          <a:lstStyle/>
          <a:p>
            <a:pPr>
              <a:defRPr sz="1400" b="1">
                <a:solidFill>
                  <a:srgbClr val="6FFFE9"/>
                </a:solidFill>
              </a:defRPr>
            </a:pPr>
            <a:r>
              <a:t>Key Result</a:t>
            </a:r>
          </a:p>
        </p:txBody>
      </p:sp>
      <p:sp>
        <p:nvSpPr>
          <p:cNvPr id="13" name="TextBox 12"/>
          <p:cNvSpPr txBox="1"/>
          <p:nvPr/>
        </p:nvSpPr>
        <p:spPr>
          <a:xfrm>
            <a:off x="8229600" y="4663440"/>
            <a:ext cx="3017520" cy="1280160"/>
          </a:xfrm>
          <a:prstGeom prst="rect">
            <a:avLst/>
          </a:prstGeom>
          <a:noFill/>
        </p:spPr>
        <p:txBody>
          <a:bodyPr wrap="none">
            <a:spAutoFit/>
          </a:bodyPr>
          <a:lstStyle/>
          <a:p>
            <a:pPr>
              <a:defRPr sz="1200">
                <a:solidFill>
                  <a:srgbClr val="9CA3AF"/>
                </a:solidFill>
              </a:defRPr>
            </a:pPr>
            <a:r>
              <a:t>Best Tour: 36.4739 km</a:t>
            </a:r>
            <a:br/>
            <a:r>
              <a:t>Exact Optimum: 35.9537 km</a:t>
            </a:r>
            <a:br/>
            <a:r>
              <a:t>Optimality Gap: 1.45% (Approximate)</a:t>
            </a:r>
            <a:br/>
            <a:r>
              <a:t>Runtime: &lt; 0.05 seconds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1: INTRODUCTION &amp; DATA</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Tourist Destinations &amp; Google Maps Verification</a:t>
            </a:r>
          </a:p>
        </p:txBody>
      </p:sp>
      <p:sp>
        <p:nvSpPr>
          <p:cNvPr id="5" name="Rounded Rectangle 4"/>
          <p:cNvSpPr/>
          <p:nvPr/>
        </p:nvSpPr>
        <p:spPr>
          <a:xfrm>
            <a:off x="731520" y="1463040"/>
            <a:ext cx="685800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6492240" cy="457200"/>
          </a:xfrm>
          <a:prstGeom prst="rect">
            <a:avLst/>
          </a:prstGeom>
          <a:noFill/>
        </p:spPr>
        <p:txBody>
          <a:bodyPr wrap="none">
            <a:spAutoFit/>
          </a:bodyPr>
          <a:lstStyle/>
          <a:p>
            <a:pPr>
              <a:defRPr sz="1400" b="1">
                <a:solidFill>
                  <a:srgbClr val="6FFFE9"/>
                </a:solidFill>
              </a:defRPr>
            </a:pPr>
            <a:r>
              <a:t>Eight Verified Destinations (Cagayan de Oro City)</a:t>
            </a:r>
          </a:p>
        </p:txBody>
      </p:sp>
      <p:sp>
        <p:nvSpPr>
          <p:cNvPr id="7" name="TextBox 6"/>
          <p:cNvSpPr txBox="1"/>
          <p:nvPr/>
        </p:nvSpPr>
        <p:spPr>
          <a:xfrm>
            <a:off x="914400" y="2011680"/>
            <a:ext cx="6492240" cy="4114800"/>
          </a:xfrm>
          <a:prstGeom prst="rect">
            <a:avLst/>
          </a:prstGeom>
          <a:noFill/>
        </p:spPr>
        <p:txBody>
          <a:bodyPr wrap="none">
            <a:spAutoFit/>
          </a:bodyPr>
          <a:lstStyle/>
          <a:p>
            <a:pPr>
              <a:defRPr sz="1100">
                <a:solidFill>
                  <a:srgbClr val="F8F9FA"/>
                </a:solidFill>
              </a:defRPr>
            </a:pPr>
            <a:r>
              <a:t>• V0: Plaza Divisoria (Depot) — RN Capistrano &amp; Tirso Neri St, Poblacion (Starting/ending civic center)</a:t>
            </a:r>
          </a:p>
          <a:p>
            <a:pPr>
              <a:defRPr sz="1100">
                <a:solidFill>
                  <a:srgbClr val="9CA3AF"/>
                </a:solidFill>
              </a:defRPr>
            </a:pPr>
            <a:r>
              <a:t>• V1: Gaston Park — Corner Gaerlan &amp; Rizal St, Poblacion (Historic heritage park &amp; fountain)</a:t>
            </a:r>
          </a:p>
          <a:p>
            <a:pPr>
              <a:defRPr sz="1100">
                <a:solidFill>
                  <a:srgbClr val="9CA3AF"/>
                </a:solidFill>
              </a:defRPr>
            </a:pPr>
            <a:r>
              <a:t>• V2: St. Augustine Cathedral — Corner Gaston Circle, Poblacion (Century-old metropolitan cathedral)</a:t>
            </a:r>
          </a:p>
          <a:p>
            <a:pPr>
              <a:defRPr sz="1100">
                <a:solidFill>
                  <a:srgbClr val="9CA3AF"/>
                </a:solidFill>
              </a:defRPr>
            </a:pPr>
            <a:r>
              <a:t>• V3: Museo de Oro — Corrales Ave entrance, XU Campus (First folkloric museum in Mindanao)</a:t>
            </a:r>
          </a:p>
          <a:p>
            <a:pPr>
              <a:defRPr sz="1100">
                <a:solidFill>
                  <a:srgbClr val="9CA3AF"/>
                </a:solidFill>
              </a:defRPr>
            </a:pPr>
            <a:r>
              <a:t>• V4: Vicente de Lara Park — Antonio Luna St, Capitol Grounds (Provincial Capitol park &amp; monument)</a:t>
            </a:r>
          </a:p>
          <a:p>
            <a:pPr>
              <a:defRPr sz="1100">
                <a:solidFill>
                  <a:srgbClr val="9CA3AF"/>
                </a:solidFill>
              </a:defRPr>
            </a:pPr>
            <a:r>
              <a:t>• V5: High Ridge — Upper Macasandig scenic overlook (Hilltop city panorama &amp; dining)</a:t>
            </a:r>
          </a:p>
          <a:p>
            <a:pPr>
              <a:defRPr sz="1100">
                <a:solidFill>
                  <a:srgbClr val="9CA3AF"/>
                </a:solidFill>
              </a:defRPr>
            </a:pPr>
            <a:r>
              <a:t>• V6: Amaya View — Indahag highland resort (Highest hilltop amusement resort)</a:t>
            </a:r>
          </a:p>
          <a:p>
            <a:pPr>
              <a:defRPr sz="1100">
                <a:solidFill>
                  <a:srgbClr val="9CA3AF"/>
                </a:solidFill>
              </a:defRPr>
            </a:pPr>
            <a:r>
              <a:t>• V7: Gardens of Malasag — Malasag Hill, Cugman (Eco-tourism cultural village)</a:t>
            </a:r>
          </a:p>
        </p:txBody>
      </p:sp>
      <p:sp>
        <p:nvSpPr>
          <p:cNvPr id="8" name="Rounded Rectangle 7"/>
          <p:cNvSpPr/>
          <p:nvPr/>
        </p:nvSpPr>
        <p:spPr>
          <a:xfrm>
            <a:off x="7863840" y="1463040"/>
            <a:ext cx="356616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600200"/>
            <a:ext cx="3200400" cy="457200"/>
          </a:xfrm>
          <a:prstGeom prst="rect">
            <a:avLst/>
          </a:prstGeom>
          <a:noFill/>
        </p:spPr>
        <p:txBody>
          <a:bodyPr wrap="none">
            <a:spAutoFit/>
          </a:bodyPr>
          <a:lstStyle/>
          <a:p>
            <a:pPr>
              <a:defRPr sz="1400" b="1">
                <a:solidFill>
                  <a:srgbClr val="6FFFE9"/>
                </a:solidFill>
              </a:defRPr>
            </a:pPr>
            <a:r>
              <a:t>Real-World Grounding</a:t>
            </a:r>
          </a:p>
        </p:txBody>
      </p:sp>
      <p:sp>
        <p:nvSpPr>
          <p:cNvPr id="10" name="TextBox 9"/>
          <p:cNvSpPr txBox="1"/>
          <p:nvPr/>
        </p:nvSpPr>
        <p:spPr>
          <a:xfrm>
            <a:off x="8046720" y="2011680"/>
            <a:ext cx="3200400" cy="4114800"/>
          </a:xfrm>
          <a:prstGeom prst="rect">
            <a:avLst/>
          </a:prstGeom>
          <a:noFill/>
        </p:spPr>
        <p:txBody>
          <a:bodyPr wrap="square">
            <a:spAutoFit/>
          </a:bodyPr>
          <a:lstStyle/>
          <a:p>
            <a:pPr>
              <a:defRPr sz="1200">
                <a:solidFill>
                  <a:srgbClr val="F8F9FA"/>
                </a:solidFill>
              </a:defRPr>
            </a:pPr>
            <a:r>
              <a:t>Curated Selection:</a:t>
            </a:r>
            <a:br/>
            <a:r>
              <a:t>Based on LakbayPinas Cagayan de Oro travel guide, strictly within CDO city limits.</a:t>
            </a:r>
            <a:br/>
            <a:br/>
            <a:r>
              <a:t>Pedestrian vs Driving Nodes:</a:t>
            </a:r>
            <a:br/>
            <a:r>
              <a:t>Locations inside pedestrian campuses or parks (e.g. Museo de Oro, Cathedral) use street-level vehicular drop-off curb nodes on Corrales Ave and Gaston Circle.</a:t>
            </a:r>
            <a:br/>
            <a:br/>
            <a:r>
              <a:t>Full Google Maps Verification:</a:t>
            </a:r>
            <a:br/>
            <a:r>
              <a:t>All 8 coordinates are verified on Google Maps with street names, latitudes, and longitudes.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1: PROBLEM FORMULATION</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Mathematical Formulation &amp; Practical Assumptions</a:t>
            </a:r>
          </a:p>
        </p:txBody>
      </p:sp>
      <p:sp>
        <p:nvSpPr>
          <p:cNvPr id="5" name="Rounded Rectangle 4"/>
          <p:cNvSpPr/>
          <p:nvPr/>
        </p:nvSpPr>
        <p:spPr>
          <a:xfrm>
            <a:off x="7315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none">
            <a:spAutoFit/>
          </a:bodyPr>
          <a:lstStyle/>
          <a:p>
            <a:pPr>
              <a:defRPr sz="1400" b="1">
                <a:solidFill>
                  <a:srgbClr val="6FFFE9"/>
                </a:solidFill>
              </a:defRPr>
            </a:pPr>
            <a:r>
              <a:t>Mathematical Formulation</a:t>
            </a:r>
          </a:p>
        </p:txBody>
      </p:sp>
      <p:sp>
        <p:nvSpPr>
          <p:cNvPr id="7" name="TextBox 6"/>
          <p:cNvSpPr txBox="1"/>
          <p:nvPr/>
        </p:nvSpPr>
        <p:spPr>
          <a:xfrm>
            <a:off x="914400" y="2011680"/>
            <a:ext cx="4846320" cy="4114800"/>
          </a:xfrm>
          <a:prstGeom prst="rect">
            <a:avLst/>
          </a:prstGeom>
          <a:noFill/>
        </p:spPr>
        <p:txBody>
          <a:bodyPr wrap="square">
            <a:spAutoFit/>
          </a:bodyPr>
          <a:lstStyle/>
          <a:p>
            <a:pPr>
              <a:defRPr sz="1200">
                <a:solidFill>
                  <a:srgbClr val="F8F9FA"/>
                </a:solidFill>
              </a:defRPr>
            </a:pPr>
            <a:r>
              <a:t>Objective Function (Minimization):</a:t>
            </a:r>
            <a:br/>
            <a:r>
              <a:t>Z(π) = Σ D[π[k], π[k+1 (mod 8)]]  for k = 0 to 7</a:t>
            </a:r>
            <a:br/>
            <a:br/>
            <a:r>
              <a:t>Where:</a:t>
            </a:r>
            <a:br/>
            <a:r>
              <a:t>• π is a cyclic permutation with π[0] = V0</a:t>
            </a:r>
            <a:br/>
            <a:r>
              <a:t>• D[u, v] is the shortest driving distance from u to v</a:t>
            </a:r>
            <a:br/>
            <a:br/>
            <a:r>
              <a:t>Constraints:</a:t>
            </a:r>
            <a:br/>
            <a:r>
              <a:t>1. Closed Hamiltonian Cycle: Start and end at V0 (Plaza Divisoria).</a:t>
            </a:r>
            <a:br/>
            <a:r>
              <a:t>2. All Intermediate Vertices Visited Exactly Once:</a:t>
            </a:r>
            <a:br/>
            <a:r>
              <a:t>   {π[1], π[2], ..., π[7]} = {V1, V2, ..., V7}</a:t>
            </a:r>
            <a:br/>
            <a:r>
              <a:t>3. Asymmetric Complete Directed Graph G = (V, A, D):</a:t>
            </a:r>
            <a:br/>
            <a:r>
              <a:t>   |V| = 8, |A| = 56 directed arcs.</a:t>
            </a:r>
            <a:br/>
            <a:r>
              <a:t>   Generally D[u, v] ≠ D[v, u] due to one-way traffic networks.</a:t>
            </a:r>
          </a:p>
        </p:txBody>
      </p:sp>
      <p:sp>
        <p:nvSpPr>
          <p:cNvPr id="8" name="Rounded Rectangle 7"/>
          <p:cNvSpPr/>
          <p:nvPr/>
        </p:nvSpPr>
        <p:spPr>
          <a:xfrm>
            <a:off x="62179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none">
            <a:spAutoFit/>
          </a:bodyPr>
          <a:lstStyle/>
          <a:p>
            <a:pPr>
              <a:defRPr sz="1400" b="1">
                <a:solidFill>
                  <a:srgbClr val="6FFFE9"/>
                </a:solidFill>
              </a:defRPr>
            </a:pPr>
            <a:r>
              <a:t>Practical Assumptions</a:t>
            </a:r>
          </a:p>
        </p:txBody>
      </p:sp>
      <p:sp>
        <p:nvSpPr>
          <p:cNvPr id="10" name="TextBox 9"/>
          <p:cNvSpPr txBox="1"/>
          <p:nvPr/>
        </p:nvSpPr>
        <p:spPr>
          <a:xfrm>
            <a:off x="6400800" y="2011680"/>
            <a:ext cx="4846320" cy="4114800"/>
          </a:xfrm>
          <a:prstGeom prst="rect">
            <a:avLst/>
          </a:prstGeom>
          <a:noFill/>
        </p:spPr>
        <p:txBody>
          <a:bodyPr wrap="square">
            <a:spAutoFit/>
          </a:bodyPr>
          <a:lstStyle/>
          <a:p>
            <a:pPr>
              <a:defRPr sz="1200">
                <a:solidFill>
                  <a:srgbClr val="F8F9FA"/>
                </a:solidFill>
              </a:defRPr>
            </a:pPr>
            <a:r>
              <a:t>1. Pure Driving Distance Metric:</a:t>
            </a:r>
            <a:br/>
            <a:r>
              <a:t>We optimize road driving distance in kilometres rather than duration or monetary fuel expenditure.</a:t>
            </a:r>
            <a:br/>
            <a:br/>
            <a:r>
              <a:t>2. Static Traffic Network:</a:t>
            </a:r>
            <a:br/>
            <a:r>
              <a:t>Road distances are fixed based on OpenStreetMap topologies via OSRM, abstracting live rush-hour bottlenecks.</a:t>
            </a:r>
            <a:br/>
            <a:br/>
            <a:r>
              <a:t>3. Search Space Size:</a:t>
            </a:r>
            <a:br/>
            <a:r>
              <a:t>With depot V0 fixed at position 0, the number of distinct candidate tours is (8 - 1)! = 7! = 5,040 tours.</a:t>
            </a:r>
            <a:br/>
            <a:br/>
            <a:r>
              <a:t>4. Single Tourist Vehicle:</a:t>
            </a:r>
            <a:br/>
            <a:r>
              <a:t>A single continuous itinerary without splitting passengers or visiting attractions concurrently.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2: ALGORITHM THEORY</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Assigned Algorithm: Section 2.4 Discrete PSO</a:t>
            </a:r>
          </a:p>
        </p:txBody>
      </p:sp>
      <p:sp>
        <p:nvSpPr>
          <p:cNvPr id="5" name="Rounded Rectangle 4"/>
          <p:cNvSpPr/>
          <p:nvPr/>
        </p:nvSpPr>
        <p:spPr>
          <a:xfrm>
            <a:off x="7315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none">
            <a:spAutoFit/>
          </a:bodyPr>
          <a:lstStyle/>
          <a:p>
            <a:pPr>
              <a:defRPr sz="1400" b="1">
                <a:solidFill>
                  <a:srgbClr val="6FFFE9"/>
                </a:solidFill>
              </a:defRPr>
            </a:pPr>
            <a:r>
              <a:t>Mapping Continuous PSO to Permutations</a:t>
            </a:r>
          </a:p>
        </p:txBody>
      </p:sp>
      <p:sp>
        <p:nvSpPr>
          <p:cNvPr id="7" name="TextBox 6"/>
          <p:cNvSpPr txBox="1"/>
          <p:nvPr/>
        </p:nvSpPr>
        <p:spPr>
          <a:xfrm>
            <a:off x="914400" y="2011680"/>
            <a:ext cx="4846320" cy="4114800"/>
          </a:xfrm>
          <a:prstGeom prst="rect">
            <a:avLst/>
          </a:prstGeom>
          <a:noFill/>
        </p:spPr>
        <p:txBody>
          <a:bodyPr wrap="square">
            <a:spAutoFit/>
          </a:bodyPr>
          <a:lstStyle/>
          <a:p>
            <a:pPr>
              <a:defRPr sz="1200">
                <a:solidFill>
                  <a:srgbClr val="F8F9FA"/>
                </a:solidFill>
              </a:defRPr>
            </a:pPr>
            <a:r>
              <a:t>Reference: Luna-Garcia et al., TMJM 2024 (Section 2.4)</a:t>
            </a:r>
            <a:br/>
            <a:br/>
            <a:r>
              <a:t>• Particle Position X_i:</a:t>
            </a:r>
            <a:br/>
            <a:r>
              <a:t>A valid permutation of [V1, ..., V7] with V0 fixed at index 0.</a:t>
            </a:r>
            <a:br/>
            <a:br/>
            <a:r>
              <a:t>• Fitness Evaluation:</a:t>
            </a:r>
            <a:br/>
            <a:r>
              <a:t>Tour cost Z(X_i) = Σ D[X_i[k], X_i[k+1 (mod 8)]]. Lower is better.</a:t>
            </a:r>
            <a:br/>
            <a:br/>
            <a:r>
              <a:t>• Particle Velocity V_i:</a:t>
            </a:r>
            <a:br/>
            <a:r>
              <a:t>A list of transposition/swap operators [(j1, k1), (j2, k2), ...].</a:t>
            </a:r>
            <a:br/>
            <a:br/>
            <a:r>
              <a:t>• Cognitive Memory (pbest_i):</a:t>
            </a:r>
            <a:br/>
            <a:r>
              <a:t>The lowest-cost permutation historically achieved by particle i.</a:t>
            </a:r>
            <a:br/>
            <a:br/>
            <a:r>
              <a:t>• Social Swarm Memory (gbest):</a:t>
            </a:r>
            <a:br/>
            <a:r>
              <a:t>The globally best permutation discovered across all particles.</a:t>
            </a:r>
          </a:p>
        </p:txBody>
      </p:sp>
      <p:sp>
        <p:nvSpPr>
          <p:cNvPr id="8" name="Rounded Rectangle 7"/>
          <p:cNvSpPr/>
          <p:nvPr/>
        </p:nvSpPr>
        <p:spPr>
          <a:xfrm>
            <a:off x="62179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none">
            <a:spAutoFit/>
          </a:bodyPr>
          <a:lstStyle/>
          <a:p>
            <a:pPr>
              <a:defRPr sz="1400" b="1">
                <a:solidFill>
                  <a:srgbClr val="6FFFE9"/>
                </a:solidFill>
              </a:defRPr>
            </a:pPr>
            <a:r>
              <a:t>Update Equations &amp; Hyperparameters</a:t>
            </a:r>
          </a:p>
        </p:txBody>
      </p:sp>
      <p:sp>
        <p:nvSpPr>
          <p:cNvPr id="10" name="TextBox 9"/>
          <p:cNvSpPr txBox="1"/>
          <p:nvPr/>
        </p:nvSpPr>
        <p:spPr>
          <a:xfrm>
            <a:off x="6400800" y="2011680"/>
            <a:ext cx="4846320" cy="4114800"/>
          </a:xfrm>
          <a:prstGeom prst="rect">
            <a:avLst/>
          </a:prstGeom>
          <a:noFill/>
        </p:spPr>
        <p:txBody>
          <a:bodyPr wrap="square">
            <a:spAutoFit/>
          </a:bodyPr>
          <a:lstStyle/>
          <a:p>
            <a:pPr>
              <a:defRPr sz="1200">
                <a:solidFill>
                  <a:srgbClr val="F8F9FA"/>
                </a:solidFill>
              </a:defRPr>
            </a:pPr>
            <a:r>
              <a:t>Velocity Update Mechanism:</a:t>
            </a:r>
            <a:br/>
            <a:r>
              <a:t>V_i(t+1) = w ⊗ V_i(t) ⊕ c1 ⊗ (pbest_i ⊖ X_i(t)) ⊕ c2 ⊗ (gbest ⊖ X_i(t))</a:t>
            </a:r>
            <a:br/>
            <a:br/>
            <a:r>
              <a:t>Position Update:</a:t>
            </a:r>
            <a:br/>
            <a:r>
              <a:t>X_i(t+1) = X_i(t) ⊙ V_i(t+1)</a:t>
            </a:r>
            <a:br/>
            <a:br/>
            <a:r>
              <a:t>Configured Hyperparameters:</a:t>
            </a:r>
            <a:br/>
            <a:r>
              <a:t>• Swarm Size (N): 40 particles</a:t>
            </a:r>
            <a:br/>
            <a:r>
              <a:t>• Max Iterations (T): 120 iterations (4,800 evaluations)</a:t>
            </a:r>
            <a:br/>
            <a:r>
              <a:t>• Inertia Weight (w): 0.5 (probability of retaining old swaps)</a:t>
            </a:r>
            <a:br/>
            <a:r>
              <a:t>• Cognitive Rate (c1): 0.8 (alignment to personal best)</a:t>
            </a:r>
            <a:br/>
            <a:r>
              <a:t>• Social Rate (c2): 0.8 (alignment to global best)</a:t>
            </a:r>
            <a:br/>
            <a:r>
              <a:t>• Random Mutation: 0.2 (exploratory swap to avoid local minima)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2: NUMERICAL TRACE</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Step-by-Step Calculation Trace &amp; Swap Demonstration</a:t>
            </a:r>
          </a:p>
        </p:txBody>
      </p:sp>
      <p:sp>
        <p:nvSpPr>
          <p:cNvPr id="5" name="Rounded Rectangle 4"/>
          <p:cNvSpPr/>
          <p:nvPr/>
        </p:nvSpPr>
        <p:spPr>
          <a:xfrm>
            <a:off x="7315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none">
            <a:spAutoFit/>
          </a:bodyPr>
          <a:lstStyle/>
          <a:p>
            <a:pPr>
              <a:defRPr sz="1400" b="1">
                <a:solidFill>
                  <a:srgbClr val="6FFFE9"/>
                </a:solidFill>
              </a:defRPr>
            </a:pPr>
            <a:r>
              <a:t>Numerical Alignment Example</a:t>
            </a:r>
          </a:p>
        </p:txBody>
      </p:sp>
      <p:sp>
        <p:nvSpPr>
          <p:cNvPr id="7" name="TextBox 6"/>
          <p:cNvSpPr txBox="1"/>
          <p:nvPr/>
        </p:nvSpPr>
        <p:spPr>
          <a:xfrm>
            <a:off x="914400" y="2011680"/>
            <a:ext cx="4846320" cy="4114800"/>
          </a:xfrm>
          <a:prstGeom prst="rect">
            <a:avLst/>
          </a:prstGeom>
          <a:noFill/>
        </p:spPr>
        <p:txBody>
          <a:bodyPr wrap="square">
            <a:spAutoFit/>
          </a:bodyPr>
          <a:lstStyle/>
          <a:p>
            <a:pPr>
              <a:defRPr sz="1200">
                <a:solidFill>
                  <a:srgbClr val="F8F9FA"/>
                </a:solidFill>
              </a:defRPr>
            </a:pPr>
            <a:r>
              <a:t>Initial Particle Position X:</a:t>
            </a:r>
            <a:br/>
            <a:r>
              <a:t>[V0, V3, V1, V2, V4, V5, V6, V7]</a:t>
            </a:r>
            <a:br/>
            <a:r>
              <a:t>Total Tour Cost = 38.50 km</a:t>
            </a:r>
            <a:br/>
            <a:br/>
            <a:r>
              <a:t>Target Global Best (gbest):</a:t>
            </a:r>
            <a:br/>
            <a:r>
              <a:t>[V0, V3, V4, V7, V6, V5, V2, V1]</a:t>
            </a:r>
            <a:br/>
            <a:br/>
            <a:r>
              <a:t>Left-to-Right Position Alignment:</a:t>
            </a:r>
            <a:br/>
            <a:r>
              <a:t>• Index 0: V0 == V0 (depot fixed)</a:t>
            </a:r>
            <a:br/>
            <a:r>
              <a:t>• Index 1: V3 == V3 (match)</a:t>
            </a:r>
            <a:br/>
            <a:r>
              <a:t>• Index 2: X[2] = V1, but target requires V4</a:t>
            </a:r>
            <a:br/>
            <a:r>
              <a:t>  -&gt; In X, V4 is currently at Index 4</a:t>
            </a:r>
            <a:br/>
            <a:r>
              <a:t>  -&gt; Generate Swap Operator: (2, 4)</a:t>
            </a:r>
            <a:br/>
            <a:r>
              <a:t>  -&gt; Execute Swap with probability c2 = 0.8</a:t>
            </a:r>
            <a:br/>
            <a:br/>
            <a:r>
              <a:t>New Particle Position X':</a:t>
            </a:r>
            <a:br/>
            <a:r>
              <a:t>[V0, V3, V4, V2, V1, V5, V6, V7]</a:t>
            </a:r>
          </a:p>
        </p:txBody>
      </p:sp>
      <p:sp>
        <p:nvSpPr>
          <p:cNvPr id="8" name="Rounded Rectangle 7"/>
          <p:cNvSpPr/>
          <p:nvPr/>
        </p:nvSpPr>
        <p:spPr>
          <a:xfrm>
            <a:off x="62179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none">
            <a:spAutoFit/>
          </a:bodyPr>
          <a:lstStyle/>
          <a:p>
            <a:pPr>
              <a:defRPr sz="1400" b="1">
                <a:solidFill>
                  <a:srgbClr val="6FFFE9"/>
                </a:solidFill>
              </a:defRPr>
            </a:pPr>
            <a:r>
              <a:t>Distance Delta &amp; Cost Recalculation</a:t>
            </a:r>
          </a:p>
        </p:txBody>
      </p:sp>
      <p:sp>
        <p:nvSpPr>
          <p:cNvPr id="10" name="TextBox 9"/>
          <p:cNvSpPr txBox="1"/>
          <p:nvPr/>
        </p:nvSpPr>
        <p:spPr>
          <a:xfrm>
            <a:off x="6400800" y="2011680"/>
            <a:ext cx="4846320" cy="4114800"/>
          </a:xfrm>
          <a:prstGeom prst="rect">
            <a:avLst/>
          </a:prstGeom>
          <a:noFill/>
        </p:spPr>
        <p:txBody>
          <a:bodyPr wrap="square">
            <a:spAutoFit/>
          </a:bodyPr>
          <a:lstStyle/>
          <a:p>
            <a:pPr>
              <a:defRPr sz="1200">
                <a:solidFill>
                  <a:srgbClr val="F8F9FA"/>
                </a:solidFill>
              </a:defRPr>
            </a:pPr>
            <a:r>
              <a:t>Evaluating Affected Directed Legs:</a:t>
            </a:r>
            <a:br/>
            <a:br/>
            <a:r>
              <a:t>Previous Legs (before swap):</a:t>
            </a:r>
            <a:br/>
            <a:r>
              <a:t>• V3 -&gt; V1 = 0.4496 km</a:t>
            </a:r>
            <a:br/>
            <a:r>
              <a:t>• V1 -&gt; V2 = 0.1585 km</a:t>
            </a:r>
            <a:br/>
            <a:r>
              <a:t>• V2 -&gt; V4 = 1.4880 km</a:t>
            </a:r>
            <a:br/>
            <a:r>
              <a:t>• V4 -&gt; V5 = 6.2238 km</a:t>
            </a:r>
            <a:br/>
            <a:r>
              <a:t>Subtotal = 8.3199 km</a:t>
            </a:r>
            <a:br/>
            <a:br/>
            <a:r>
              <a:t>Updated Legs (after swap):</a:t>
            </a:r>
            <a:br/>
            <a:r>
              <a:t>• V3 -&gt; V4 = 1.3014 km</a:t>
            </a:r>
            <a:br/>
            <a:r>
              <a:t>• V4 -&gt; V2 = 1.6845 km</a:t>
            </a:r>
            <a:br/>
            <a:r>
              <a:t>• V2 -&gt; V1 = 0.1585 km</a:t>
            </a:r>
            <a:br/>
            <a:r>
              <a:t>• V1 -&gt; V5 = 4.9691 km</a:t>
            </a:r>
            <a:br/>
            <a:r>
              <a:t>Subtotal = 8.1135 km</a:t>
            </a:r>
            <a:br/>
            <a:br/>
            <a:r>
              <a:t>Net Improvement: 8.1135 - 8.3199 = -0.2064 km</a:t>
            </a:r>
            <a:br/>
            <a:r>
              <a:t>New Total Cost: 38.50 - 0.21 = 38.2936 km</a:t>
            </a:r>
            <a:br/>
            <a:r>
              <a:t>Outcome: Improved! Particle updates its pbest.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3: GRAPH MODEL &amp; DATA</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Graph Model &amp; Asymmetric Distance Matrix</a:t>
            </a:r>
          </a:p>
        </p:txBody>
      </p:sp>
      <p:pic>
        <p:nvPicPr>
          <p:cNvPr id="5" name="Picture 4" descr="figure1_cdo_graph_network.png"/>
          <p:cNvPicPr>
            <a:picLocks noChangeAspect="1"/>
          </p:cNvPicPr>
          <p:nvPr/>
        </p:nvPicPr>
        <p:blipFill>
          <a:blip r:embed="rId2"/>
          <a:stretch>
            <a:fillRect/>
          </a:stretch>
        </p:blipFill>
        <p:spPr>
          <a:xfrm>
            <a:off x="731520" y="1463040"/>
            <a:ext cx="6858000" cy="4846320"/>
          </a:xfrm>
          <a:prstGeom prst="rect">
            <a:avLst/>
          </a:prstGeom>
        </p:spPr>
      </p:pic>
      <p:sp>
        <p:nvSpPr>
          <p:cNvPr id="6" name="Rounded Rectangle 5"/>
          <p:cNvSpPr/>
          <p:nvPr/>
        </p:nvSpPr>
        <p:spPr>
          <a:xfrm>
            <a:off x="7863840" y="1463040"/>
            <a:ext cx="356616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600200"/>
            <a:ext cx="3200400" cy="457200"/>
          </a:xfrm>
          <a:prstGeom prst="rect">
            <a:avLst/>
          </a:prstGeom>
          <a:noFill/>
        </p:spPr>
        <p:txBody>
          <a:bodyPr wrap="none">
            <a:spAutoFit/>
          </a:bodyPr>
          <a:lstStyle/>
          <a:p>
            <a:pPr>
              <a:defRPr sz="1400" b="1">
                <a:solidFill>
                  <a:srgbClr val="6FFFE9"/>
                </a:solidFill>
              </a:defRPr>
            </a:pPr>
            <a:r>
              <a:t>Graph Properties</a:t>
            </a:r>
          </a:p>
        </p:txBody>
      </p:sp>
      <p:sp>
        <p:nvSpPr>
          <p:cNvPr id="8" name="TextBox 7"/>
          <p:cNvSpPr txBox="1"/>
          <p:nvPr/>
        </p:nvSpPr>
        <p:spPr>
          <a:xfrm>
            <a:off x="8046720" y="2011680"/>
            <a:ext cx="3200400" cy="4114800"/>
          </a:xfrm>
          <a:prstGeom prst="rect">
            <a:avLst/>
          </a:prstGeom>
          <a:noFill/>
        </p:spPr>
        <p:txBody>
          <a:bodyPr wrap="square">
            <a:spAutoFit/>
          </a:bodyPr>
          <a:lstStyle/>
          <a:p>
            <a:pPr>
              <a:defRPr sz="1200">
                <a:solidFill>
                  <a:srgbClr val="F8F9FA"/>
                </a:solidFill>
              </a:defRPr>
            </a:pPr>
            <a:r>
              <a:t>Graph Structure:</a:t>
            </a:r>
            <a:br/>
            <a:r>
              <a:t>• Directed Graph G = (V, A, D)</a:t>
            </a:r>
            <a:br/>
            <a:r>
              <a:t>• |V| = 8 nodes, |A| = 56 directed arcs</a:t>
            </a:r>
            <a:br/>
            <a:r>
              <a:t>• Bold teal arrows show optimal Hamiltonian cycle</a:t>
            </a:r>
            <a:br/>
            <a:br/>
            <a:r>
              <a:t>Weight Matrix Asymmetry:</a:t>
            </a:r>
            <a:br/>
            <a:r>
              <a:t>• V0 -&gt; V1 = 0.63 km</a:t>
            </a:r>
            <a:br/>
            <a:r>
              <a:t>• V1 -&gt; V0 = 0.36 km</a:t>
            </a:r>
            <a:br/>
            <a:r>
              <a:t>Difference = 0.27 km (75% longer!)</a:t>
            </a:r>
            <a:br/>
            <a:br/>
            <a:r>
              <a:t>Why Asymmetric?</a:t>
            </a:r>
            <a:br/>
            <a:r>
              <a:t>Due to downtown CDO one-way streets (e.g. Capistrano &amp; Burgos). Symmetrizing would create illegal or non-existent driving turns!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3: METHODOLOGY</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Data Pipeline, OSRM Extraction &amp; Verification</a:t>
            </a:r>
          </a:p>
        </p:txBody>
      </p:sp>
      <p:sp>
        <p:nvSpPr>
          <p:cNvPr id="5" name="Rounded Rectangle 4"/>
          <p:cNvSpPr/>
          <p:nvPr/>
        </p:nvSpPr>
        <p:spPr>
          <a:xfrm>
            <a:off x="7315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none">
            <a:spAutoFit/>
          </a:bodyPr>
          <a:lstStyle/>
          <a:p>
            <a:pPr>
              <a:defRPr sz="1400" b="1">
                <a:solidFill>
                  <a:srgbClr val="6FFFE9"/>
                </a:solidFill>
              </a:defRPr>
            </a:pPr>
            <a:r>
              <a:t>Pipeline Architecture</a:t>
            </a:r>
          </a:p>
        </p:txBody>
      </p:sp>
      <p:sp>
        <p:nvSpPr>
          <p:cNvPr id="7" name="TextBox 6"/>
          <p:cNvSpPr txBox="1"/>
          <p:nvPr/>
        </p:nvSpPr>
        <p:spPr>
          <a:xfrm>
            <a:off x="914400" y="2011680"/>
            <a:ext cx="4846320" cy="4114800"/>
          </a:xfrm>
          <a:prstGeom prst="rect">
            <a:avLst/>
          </a:prstGeom>
          <a:noFill/>
        </p:spPr>
        <p:txBody>
          <a:bodyPr wrap="square">
            <a:spAutoFit/>
          </a:bodyPr>
          <a:lstStyle/>
          <a:p>
            <a:pPr>
              <a:defRPr sz="1200">
                <a:solidFill>
                  <a:srgbClr val="F8F9FA"/>
                </a:solidFill>
              </a:defRPr>
            </a:pPr>
            <a:r>
              <a:t>1. Geographic Node Acquisition:</a:t>
            </a:r>
            <a:br/>
            <a:r>
              <a:t>• Latitudes &amp; longitudes extracted from OpenStreetMap Overpass API and Google Maps.</a:t>
            </a:r>
            <a:br/>
            <a:r>
              <a:t>• Street-level drop-off points ensured for pedestrian zones.</a:t>
            </a:r>
            <a:br/>
            <a:br/>
            <a:r>
              <a:t>2. Road Network Routing via OSRM:</a:t>
            </a:r>
            <a:br/>
            <a:r>
              <a:t>• Driving distance matrix generated via OSRM table service.</a:t>
            </a:r>
            <a:br/>
            <a:r>
              <a:t>• Realistic turn-by-turn road geometries retrieved via OSRM route service.</a:t>
            </a:r>
            <a:br/>
            <a:br/>
            <a:r>
              <a:t>3. Raw Artifact Archival:</a:t>
            </a:r>
            <a:br/>
            <a:r>
              <a:t>• Raw JSON payloads saved in data/raw/.</a:t>
            </a:r>
            <a:br/>
            <a:r>
              <a:t>• SHA-256 hash manifest guarantees immutability.</a:t>
            </a:r>
          </a:p>
        </p:txBody>
      </p:sp>
      <p:sp>
        <p:nvSpPr>
          <p:cNvPr id="8" name="Rounded Rectangle 7"/>
          <p:cNvSpPr/>
          <p:nvPr/>
        </p:nvSpPr>
        <p:spPr>
          <a:xfrm>
            <a:off x="62179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none">
            <a:spAutoFit/>
          </a:bodyPr>
          <a:lstStyle/>
          <a:p>
            <a:pPr>
              <a:defRPr sz="1400" b="1">
                <a:solidFill>
                  <a:srgbClr val="6FFFE9"/>
                </a:solidFill>
              </a:defRPr>
            </a:pPr>
            <a:r>
              <a:t>Software Quality &amp; Testing</a:t>
            </a:r>
          </a:p>
        </p:txBody>
      </p:sp>
      <p:sp>
        <p:nvSpPr>
          <p:cNvPr id="10" name="TextBox 9"/>
          <p:cNvSpPr txBox="1"/>
          <p:nvPr/>
        </p:nvSpPr>
        <p:spPr>
          <a:xfrm>
            <a:off x="6400800" y="2011680"/>
            <a:ext cx="4846320" cy="4114800"/>
          </a:xfrm>
          <a:prstGeom prst="rect">
            <a:avLst/>
          </a:prstGeom>
          <a:noFill/>
        </p:spPr>
        <p:txBody>
          <a:bodyPr wrap="square">
            <a:spAutoFit/>
          </a:bodyPr>
          <a:lstStyle/>
          <a:p>
            <a:pPr>
              <a:defRPr sz="1200">
                <a:solidFill>
                  <a:srgbClr val="F8F9FA"/>
                </a:solidFill>
              </a:defRPr>
            </a:pPr>
            <a:r>
              <a:t>15/15 Automated Unit Tests (pytest):</a:t>
            </a:r>
            <a:br/>
            <a:r>
              <a:t>• Graph connectivity and node completeness</a:t>
            </a:r>
            <a:br/>
            <a:r>
              <a:t>• Non-negative distance values &amp; zero diagonal</a:t>
            </a:r>
            <a:br/>
            <a:r>
              <a:t>• Permutation legality (each node visited exactly once)</a:t>
            </a:r>
            <a:br/>
            <a:r>
              <a:t>• PSO convergence and repeatability under fixed seeds</a:t>
            </a:r>
            <a:br/>
            <a:br/>
            <a:r>
              <a:t>Fully Offline Reproducible:</a:t>
            </a:r>
            <a:br/>
            <a:r>
              <a:t>The entire workflow executes offline using preserved datasets without depending on external web APIs at runtime.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4: LIVE DEMONSTRATION</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Live Python Execution &amp; Optimality Verification</a:t>
            </a:r>
          </a:p>
        </p:txBody>
      </p:sp>
      <p:sp>
        <p:nvSpPr>
          <p:cNvPr id="5" name="Rounded Rectangle 4"/>
          <p:cNvSpPr/>
          <p:nvPr/>
        </p:nvSpPr>
        <p:spPr>
          <a:xfrm>
            <a:off x="731520" y="1463040"/>
            <a:ext cx="548640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5120640" cy="457200"/>
          </a:xfrm>
          <a:prstGeom prst="rect">
            <a:avLst/>
          </a:prstGeom>
          <a:noFill/>
        </p:spPr>
        <p:txBody>
          <a:bodyPr wrap="none">
            <a:spAutoFit/>
          </a:bodyPr>
          <a:lstStyle/>
          <a:p>
            <a:pPr>
              <a:defRPr sz="1400" b="1">
                <a:solidFill>
                  <a:srgbClr val="6FFFE9"/>
                </a:solidFill>
              </a:defRPr>
            </a:pPr>
            <a:r>
              <a:t>Solver Output &amp; Tour Recalculation</a:t>
            </a:r>
          </a:p>
        </p:txBody>
      </p:sp>
      <p:sp>
        <p:nvSpPr>
          <p:cNvPr id="7" name="TextBox 6"/>
          <p:cNvSpPr txBox="1"/>
          <p:nvPr/>
        </p:nvSpPr>
        <p:spPr>
          <a:xfrm>
            <a:off x="914400" y="2011680"/>
            <a:ext cx="5120640" cy="4114800"/>
          </a:xfrm>
          <a:prstGeom prst="rect">
            <a:avLst/>
          </a:prstGeom>
          <a:noFill/>
        </p:spPr>
        <p:txBody>
          <a:bodyPr wrap="square">
            <a:spAutoFit/>
          </a:bodyPr>
          <a:lstStyle/>
          <a:p>
            <a:pPr>
              <a:defRPr sz="1100">
                <a:solidFill>
                  <a:srgbClr val="F8F9FA"/>
                </a:solidFill>
              </a:defRPr>
            </a:pPr>
            <a:r>
              <a:t>Optimal Discovered Tour (Seed 123):</a:t>
            </a:r>
            <a:br/>
            <a:r>
              <a:t>V0 -&gt; V3 -&gt; V4 -&gt; V7 -&gt; V6 -&gt; V5 -&gt; V2 -&gt; V1 -&gt; V0</a:t>
            </a:r>
            <a:br/>
            <a:br/>
            <a:r>
              <a:t>Step-by-Step Edge Weight Recalculation:</a:t>
            </a:r>
            <a:br/>
            <a:r>
              <a:t>• Leg 1: V0 -&gt; V3 (Divisoria -&gt; Museo de Oro) = 0.3565 km</a:t>
            </a:r>
            <a:br/>
            <a:r>
              <a:t>• Leg 2: V3 -&gt; V4 (Museo -&gt; Vicente de Lara) = 1.3014 km</a:t>
            </a:r>
            <a:br/>
            <a:r>
              <a:t>• Leg 3: V4 -&gt; V7 (Vicente de Lara -&gt; Malasag) = 8.7112 km</a:t>
            </a:r>
            <a:br/>
            <a:r>
              <a:t>• Leg 4: V7 -&gt; V6 (Malasag -&gt; Amaya View) = 13.5305 km</a:t>
            </a:r>
            <a:br/>
            <a:r>
              <a:t>• Leg 5: V6 -&gt; V5 (Amaya View -&gt; High Ridge) = 7.3656 km</a:t>
            </a:r>
            <a:br/>
            <a:r>
              <a:t>• Leg 6: V5 -&gt; V2 (High Ridge -&gt; Cathedral) = 4.6876 km</a:t>
            </a:r>
            <a:br/>
            <a:r>
              <a:t>• Leg 7: V2 -&gt; V1 (Cathedral -&gt; Gaston Park) = 0.1585 km</a:t>
            </a:r>
            <a:br/>
            <a:r>
              <a:t>• Leg 8: V1 -&gt; V0 (Gaston Park -&gt; Divisoria) = 0.3626 km</a:t>
            </a:r>
            <a:br/>
            <a:br/>
            <a:r>
              <a:t>Verified Total Distance = 36.4739 km</a:t>
            </a:r>
          </a:p>
        </p:txBody>
      </p:sp>
      <p:sp>
        <p:nvSpPr>
          <p:cNvPr id="8" name="Rounded Rectangle 7"/>
          <p:cNvSpPr/>
          <p:nvPr/>
        </p:nvSpPr>
        <p:spPr>
          <a:xfrm>
            <a:off x="6492240" y="1463040"/>
            <a:ext cx="493776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00200"/>
            <a:ext cx="4572000" cy="457200"/>
          </a:xfrm>
          <a:prstGeom prst="rect">
            <a:avLst/>
          </a:prstGeom>
          <a:noFill/>
        </p:spPr>
        <p:txBody>
          <a:bodyPr wrap="none">
            <a:spAutoFit/>
          </a:bodyPr>
          <a:lstStyle/>
          <a:p>
            <a:pPr>
              <a:defRPr sz="1400" b="1">
                <a:solidFill>
                  <a:srgbClr val="6FFFE9"/>
                </a:solidFill>
              </a:defRPr>
            </a:pPr>
            <a:r>
              <a:t>Optimality Verification</a:t>
            </a:r>
          </a:p>
        </p:txBody>
      </p:sp>
      <p:sp>
        <p:nvSpPr>
          <p:cNvPr id="10" name="TextBox 9"/>
          <p:cNvSpPr txBox="1"/>
          <p:nvPr/>
        </p:nvSpPr>
        <p:spPr>
          <a:xfrm>
            <a:off x="6675120" y="2011680"/>
            <a:ext cx="4572000" cy="4114800"/>
          </a:xfrm>
          <a:prstGeom prst="rect">
            <a:avLst/>
          </a:prstGeom>
          <a:noFill/>
        </p:spPr>
        <p:txBody>
          <a:bodyPr wrap="square">
            <a:spAutoFit/>
          </a:bodyPr>
          <a:lstStyle/>
          <a:p>
            <a:pPr>
              <a:defRPr sz="1100">
                <a:solidFill>
                  <a:srgbClr val="F8F9FA"/>
                </a:solidFill>
              </a:defRPr>
            </a:pPr>
            <a:r>
              <a:t>Mathematical Benchmarking:</a:t>
            </a:r>
            <a:br/>
            <a:br/>
            <a:r>
              <a:t>• Brute-Force Exact Minimum: 35.9537 km</a:t>
            </a:r>
            <a:br/>
            <a:r>
              <a:t>  (Evaluated all 5,040 valid permutations)</a:t>
            </a:r>
            <a:br/>
            <a:br/>
            <a:r>
              <a:t>• Best PSO Distance: 36.4739 km</a:t>
            </a:r>
            <a:br/>
            <a:r>
              <a:t>• Optimality Gap: +1.4469% (+520.2 metres)</a:t>
            </a:r>
            <a:br/>
            <a:br/>
            <a:r>
              <a:t>• Result Classification: APPROXIMATE SOLUTION</a:t>
            </a:r>
            <a:br/>
            <a:r>
              <a:t>  (Honest reporting per PIT guidelines)</a:t>
            </a:r>
            <a:br/>
            <a:br/>
            <a:r>
              <a:t>• 30-Seed Stability Analysis:</a:t>
            </a:r>
            <a:br/>
            <a:r>
              <a:t>  - Exact optimum reached in 4/30 runs (13.3%)</a:t>
            </a:r>
            <a:br/>
            <a:r>
              <a:t>  - Mean tour distance: 36.63 km</a:t>
            </a:r>
            <a:br/>
            <a:r>
              <a:t>  - Worst tour distance: 37.89 km</a:t>
            </a:r>
            <a:br/>
            <a:r>
              <a:t>  - Execution time: ~0.03 seconds per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5: SOLUTION ANALYSIS</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Geographic Road Route &amp; Spatial Clustering</a:t>
            </a:r>
          </a:p>
        </p:txBody>
      </p:sp>
      <p:pic>
        <p:nvPicPr>
          <p:cNvPr id="5" name="Picture 4" descr="figure3_cdo_tour.png"/>
          <p:cNvPicPr>
            <a:picLocks noChangeAspect="1"/>
          </p:cNvPicPr>
          <p:nvPr/>
        </p:nvPicPr>
        <p:blipFill>
          <a:blip r:embed="rId2"/>
          <a:stretch>
            <a:fillRect/>
          </a:stretch>
        </p:blipFill>
        <p:spPr>
          <a:xfrm>
            <a:off x="731520" y="1463040"/>
            <a:ext cx="6858000" cy="4846320"/>
          </a:xfrm>
          <a:prstGeom prst="rect">
            <a:avLst/>
          </a:prstGeom>
        </p:spPr>
      </p:pic>
      <p:sp>
        <p:nvSpPr>
          <p:cNvPr id="6" name="Rounded Rectangle 5"/>
          <p:cNvSpPr/>
          <p:nvPr/>
        </p:nvSpPr>
        <p:spPr>
          <a:xfrm>
            <a:off x="7863840" y="1463040"/>
            <a:ext cx="356616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600200"/>
            <a:ext cx="3200400" cy="457200"/>
          </a:xfrm>
          <a:prstGeom prst="rect">
            <a:avLst/>
          </a:prstGeom>
          <a:noFill/>
        </p:spPr>
        <p:txBody>
          <a:bodyPr wrap="none">
            <a:spAutoFit/>
          </a:bodyPr>
          <a:lstStyle/>
          <a:p>
            <a:pPr>
              <a:defRPr sz="1400" b="1">
                <a:solidFill>
                  <a:srgbClr val="6FFFE9"/>
                </a:solidFill>
              </a:defRPr>
            </a:pPr>
            <a:r>
              <a:t>Spatial Insights</a:t>
            </a:r>
          </a:p>
        </p:txBody>
      </p:sp>
      <p:sp>
        <p:nvSpPr>
          <p:cNvPr id="8" name="TextBox 7"/>
          <p:cNvSpPr txBox="1"/>
          <p:nvPr/>
        </p:nvSpPr>
        <p:spPr>
          <a:xfrm>
            <a:off x="8046720" y="2011680"/>
            <a:ext cx="3200400" cy="4114800"/>
          </a:xfrm>
          <a:prstGeom prst="rect">
            <a:avLst/>
          </a:prstGeom>
          <a:noFill/>
        </p:spPr>
        <p:txBody>
          <a:bodyPr wrap="square">
            <a:spAutoFit/>
          </a:bodyPr>
          <a:lstStyle/>
          <a:p>
            <a:pPr>
              <a:defRPr sz="1100">
                <a:solidFill>
                  <a:srgbClr val="F8F9FA"/>
                </a:solidFill>
              </a:defRPr>
            </a:pPr>
            <a:r>
              <a:t>Spatial Clustering:</a:t>
            </a:r>
            <a:br/>
            <a:br/>
            <a:r>
              <a:t>1. Downtown Heritage Cluster:</a:t>
            </a:r>
            <a:br/>
            <a:r>
              <a:t>Starts at Divisoria (V0), visits Museo de Oro (V3) and Capitol Park (V4).</a:t>
            </a:r>
            <a:br/>
            <a:br/>
            <a:r>
              <a:t>2. Eastern Eco-Tourism Loop:</a:t>
            </a:r>
            <a:br/>
            <a:r>
              <a:t>Sweeps east along Sayre Highway to Gardens of Malasag (V7).</a:t>
            </a:r>
            <a:br/>
            <a:br/>
            <a:r>
              <a:t>3. Highland Ridge Overlook:</a:t>
            </a:r>
            <a:br/>
            <a:r>
              <a:t>Climbs to Indahag at Amaya View (V6) and High Ridge (V5).</a:t>
            </a:r>
            <a:br/>
            <a:br/>
            <a:r>
              <a:t>4. Return Descent:</a:t>
            </a:r>
            <a:br/>
            <a:r>
              <a:t>Descends to historic Gaston Park (V1) &amp; Cathedral (V2) before returning to V0.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none">
            <a:spAutoFit/>
          </a:bodyPr>
          <a:lstStyle/>
          <a:p>
            <a:pPr>
              <a:defRPr sz="1100" b="1">
                <a:solidFill>
                  <a:srgbClr val="5BC0BE"/>
                </a:solidFill>
              </a:defRPr>
            </a:pPr>
            <a:r>
              <a:t>COMPONENT 5: CONCLUSION</a:t>
            </a:r>
          </a:p>
        </p:txBody>
      </p:sp>
      <p:sp>
        <p:nvSpPr>
          <p:cNvPr id="4" name="TextBox 3"/>
          <p:cNvSpPr txBox="1"/>
          <p:nvPr/>
        </p:nvSpPr>
        <p:spPr>
          <a:xfrm>
            <a:off x="731520" y="640080"/>
            <a:ext cx="10698480" cy="731520"/>
          </a:xfrm>
          <a:prstGeom prst="rect">
            <a:avLst/>
          </a:prstGeom>
          <a:noFill/>
        </p:spPr>
        <p:txBody>
          <a:bodyPr wrap="none">
            <a:spAutoFit/>
          </a:bodyPr>
          <a:lstStyle/>
          <a:p>
            <a:pPr>
              <a:defRPr sz="2400" b="1">
                <a:solidFill>
                  <a:srgbClr val="F8F9FA"/>
                </a:solidFill>
              </a:defRPr>
            </a:pPr>
            <a:r>
              <a:t>Conclusions, Practical Limitations &amp; References</a:t>
            </a:r>
          </a:p>
        </p:txBody>
      </p:sp>
      <p:sp>
        <p:nvSpPr>
          <p:cNvPr id="5" name="Rounded Rectangle 4"/>
          <p:cNvSpPr/>
          <p:nvPr/>
        </p:nvSpPr>
        <p:spPr>
          <a:xfrm>
            <a:off x="7315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846320" cy="457200"/>
          </a:xfrm>
          <a:prstGeom prst="rect">
            <a:avLst/>
          </a:prstGeom>
          <a:noFill/>
        </p:spPr>
        <p:txBody>
          <a:bodyPr wrap="none">
            <a:spAutoFit/>
          </a:bodyPr>
          <a:lstStyle/>
          <a:p>
            <a:pPr>
              <a:defRPr sz="1400" b="1">
                <a:solidFill>
                  <a:srgbClr val="6FFFE9"/>
                </a:solidFill>
              </a:defRPr>
            </a:pPr>
            <a:r>
              <a:t>Conclusions &amp; Limitations</a:t>
            </a:r>
          </a:p>
        </p:txBody>
      </p:sp>
      <p:sp>
        <p:nvSpPr>
          <p:cNvPr id="7" name="TextBox 6"/>
          <p:cNvSpPr txBox="1"/>
          <p:nvPr/>
        </p:nvSpPr>
        <p:spPr>
          <a:xfrm>
            <a:off x="914400" y="2011680"/>
            <a:ext cx="4846320" cy="4114800"/>
          </a:xfrm>
          <a:prstGeom prst="rect">
            <a:avLst/>
          </a:prstGeom>
          <a:noFill/>
        </p:spPr>
        <p:txBody>
          <a:bodyPr wrap="square">
            <a:spAutoFit/>
          </a:bodyPr>
          <a:lstStyle/>
          <a:p>
            <a:pPr>
              <a:defRPr sz="1200">
                <a:solidFill>
                  <a:srgbClr val="F8F9FA"/>
                </a:solidFill>
              </a:defRPr>
            </a:pPr>
            <a:r>
              <a:t>Key Project Takeaways:</a:t>
            </a:r>
            <a:br/>
            <a:r>
              <a:t>• Discrete PSO (Section 2.4) efficiently optimizes asymmetric road-network TSP problems.</a:t>
            </a:r>
            <a:br/>
            <a:r>
              <a:t>• Found 36.47 km tour in &lt;0.05 seconds, within 1.45% of the exact brute-force optimum.</a:t>
            </a:r>
            <a:br/>
            <a:r>
              <a:t>• Asymmetry in real road graphs must be preserved for practical routing.</a:t>
            </a:r>
            <a:br/>
            <a:br/>
            <a:r>
              <a:t>Practical Limitations:</a:t>
            </a:r>
            <a:br/>
            <a:r>
              <a:t>1. Static Travel Metric: Does not capture live rush-hour delays on major corridors.</a:t>
            </a:r>
            <a:br/>
            <a:r>
              <a:t>2. Opening Hours: Does not enforce time-window constraints for museum entry.</a:t>
            </a:r>
            <a:br/>
            <a:r>
              <a:t>3. Parking Delay: Assumes curb drop-off without modeling parking search time.</a:t>
            </a:r>
          </a:p>
        </p:txBody>
      </p:sp>
      <p:sp>
        <p:nvSpPr>
          <p:cNvPr id="8" name="Rounded Rectangle 7"/>
          <p:cNvSpPr/>
          <p:nvPr/>
        </p:nvSpPr>
        <p:spPr>
          <a:xfrm>
            <a:off x="6217920" y="1463040"/>
            <a:ext cx="5212080" cy="4846320"/>
          </a:xfrm>
          <a:prstGeom prst="roundRect">
            <a:avLst/>
          </a:prstGeom>
          <a:solidFill>
            <a:srgbClr val="1C2541"/>
          </a:solidFill>
          <a:ln w="1270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457200"/>
          </a:xfrm>
          <a:prstGeom prst="rect">
            <a:avLst/>
          </a:prstGeom>
          <a:noFill/>
        </p:spPr>
        <p:txBody>
          <a:bodyPr wrap="none">
            <a:spAutoFit/>
          </a:bodyPr>
          <a:lstStyle/>
          <a:p>
            <a:pPr>
              <a:defRPr sz="1400" b="1">
                <a:solidFill>
                  <a:srgbClr val="6FFFE9"/>
                </a:solidFill>
              </a:defRPr>
            </a:pPr>
            <a:r>
              <a:t>Academic References</a:t>
            </a:r>
          </a:p>
        </p:txBody>
      </p:sp>
      <p:sp>
        <p:nvSpPr>
          <p:cNvPr id="10" name="TextBox 9"/>
          <p:cNvSpPr txBox="1"/>
          <p:nvPr/>
        </p:nvSpPr>
        <p:spPr>
          <a:xfrm>
            <a:off x="6400800" y="2011680"/>
            <a:ext cx="4846320" cy="4114800"/>
          </a:xfrm>
          <a:prstGeom prst="rect">
            <a:avLst/>
          </a:prstGeom>
          <a:noFill/>
        </p:spPr>
        <p:txBody>
          <a:bodyPr wrap="square">
            <a:spAutoFit/>
          </a:bodyPr>
          <a:lstStyle/>
          <a:p>
            <a:pPr>
              <a:defRPr sz="1100">
                <a:solidFill>
                  <a:srgbClr val="F8F9FA"/>
                </a:solidFill>
              </a:defRPr>
            </a:pPr>
            <a:r>
              <a:t>1. Assigned Literature:</a:t>
            </a:r>
            <a:br/>
            <a:r>
              <a:t>   Luna-Garcia, H., et al. (2024). The Traveling Salesperson Problem: An overview of algorithms, applications, and formulations. Trends in Mathematics and Journal of Mathematics, Section 2.4 (Particle Swarm Optimization).</a:t>
            </a:r>
            <a:br/>
            <a:br/>
            <a:r>
              <a:t>2. Geographic &amp; Routing Systems:</a:t>
            </a:r>
            <a:br/>
            <a:r>
              <a:t>   • Open Source Routing Machine (OSRM). Car driving routing engine.</a:t>
            </a:r>
            <a:br/>
            <a:r>
              <a:t>   • OpenStreetMap contributors. Open spatial database under ODbL.</a:t>
            </a:r>
            <a:br/>
            <a:r>
              <a:t>   • LakbayPinas Travel Guide. Cagayan de Oro tourist destinations.</a:t>
            </a:r>
            <a:br/>
            <a:br/>
            <a:r>
              <a:t>3. Graph Theory Foundation:</a:t>
            </a:r>
            <a:br/>
            <a:r>
              <a:t>   Bondy, J. A., &amp; Murty, U. S. R. Graph Theory with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